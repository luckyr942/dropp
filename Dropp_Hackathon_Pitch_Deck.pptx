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E575"/>
                </a:solidFill>
              </a:defRPr>
            </a:pPr>
            <a:r>
              <a:t>INDIA'S 1ST 3-SIDED HYPER-LOCAL SUPER-APP</a:t>
            </a:r>
          </a:p>
          <a:p>
            <a:pPr algn="ctr">
              <a:spcBef>
                <a:spcPts val="800"/>
              </a:spcBef>
              <a:defRPr sz="6400" b="1">
                <a:solidFill>
                  <a:srgbClr val="FFFFFF"/>
                </a:solidFill>
              </a:defRPr>
            </a:pPr>
            <a:r>
              <a:t>dropp.</a:t>
            </a:r>
          </a:p>
          <a:p>
            <a:pPr algn="ctr">
              <a:spcBef>
                <a:spcPts val="400"/>
              </a:spcBef>
              <a:defRPr sz="3200" b="1">
                <a:solidFill>
                  <a:srgbClr val="00E575"/>
                </a:solidFill>
              </a:defRPr>
            </a:pPr>
            <a:r>
              <a:t>Move Freely. Live Smarter.</a:t>
            </a:r>
          </a:p>
          <a:p>
            <a:pPr algn="ctr">
              <a:spcBef>
                <a:spcPts val="1800"/>
              </a:spcBef>
              <a:defRPr sz="1600">
                <a:solidFill>
                  <a:srgbClr val="94A3B8"/>
                </a:solidFill>
              </a:defRPr>
            </a:pPr>
            <a:r>
              <a:t>Dropp coordinates everyday local services through one conversational experience, while each service executes independently behind the scenes.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E575"/>
                </a:solidFill>
              </a:defRPr>
            </a:pPr>
            <a:r>
              <a:t>MARKET INEFFICIENCY</a:t>
            </a:r>
          </a:p>
          <a:p>
            <a:pPr>
              <a:spcBef>
                <a:spcPts val="400"/>
              </a:spcBef>
              <a:defRPr sz="2800" b="1">
                <a:solidFill>
                  <a:srgbClr val="FFFFFF"/>
                </a:solidFill>
              </a:defRPr>
            </a:pPr>
            <a:r>
              <a:t>The Coordination Tax on Urban Living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383280" cy="4206240"/>
          </a:xfrm>
          <a:prstGeom prst="roundRect">
            <a:avLst/>
          </a:prstGeom>
          <a:solidFill>
            <a:srgbClr val="151D2F"/>
          </a:solidFill>
          <a:ln w="12700">
            <a:solidFill>
              <a:srgbClr val="26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03120"/>
            <a:ext cx="2834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E575"/>
                </a:solidFill>
              </a:defRPr>
            </a:pPr>
            <a:r>
              <a:t>📱 For Customers</a:t>
            </a:r>
          </a:p>
          <a:p>
            <a:pPr>
              <a:spcBef>
                <a:spcPts val="1400"/>
              </a:spcBef>
              <a:defRPr sz="1300">
                <a:solidFill>
                  <a:srgbClr val="94A3B8"/>
                </a:solidFill>
              </a:defRPr>
            </a:pPr>
            <a:r>
              <a:t>Juggling 4 separate apps (Uber, Zomato, Blinkit) to coordinate a single commute.</a:t>
            </a:r>
            <a:br/>
            <a:br/>
            <a:r>
              <a:t>• 4 subscriptions &amp; 4 surge fees</a:t>
            </a:r>
            <a:br/>
            <a:r>
              <a:t>• 15 mins wasted per morning routine</a:t>
            </a:r>
            <a:br/>
            <a:r>
              <a:t>• Zero delivery synchronization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828800"/>
            <a:ext cx="3383280" cy="4206240"/>
          </a:xfrm>
          <a:prstGeom prst="roundRect">
            <a:avLst/>
          </a:prstGeom>
          <a:solidFill>
            <a:srgbClr val="151D2F"/>
          </a:solidFill>
          <a:ln w="12700">
            <a:solidFill>
              <a:srgbClr val="26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2103120"/>
            <a:ext cx="2834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E575"/>
                </a:solidFill>
              </a:defRPr>
            </a:pPr>
            <a:r>
              <a:t>🏪 For Local Merchants</a:t>
            </a:r>
          </a:p>
          <a:p>
            <a:pPr>
              <a:spcBef>
                <a:spcPts val="1400"/>
              </a:spcBef>
              <a:defRPr sz="1300">
                <a:solidFill>
                  <a:srgbClr val="94A3B8"/>
                </a:solidFill>
              </a:defRPr>
            </a:pPr>
            <a:r>
              <a:t>Small stores &amp; cloud kitchens lose 28%–35% of gross revenue to predatory food aggregators.</a:t>
            </a:r>
            <a:br/>
            <a:br/>
            <a:r>
              <a:t>• Crushing take-rates destroy profit</a:t>
            </a:r>
            <a:br/>
            <a:r>
              <a:t>• No ownership of customer data</a:t>
            </a:r>
            <a:br/>
            <a:r>
              <a:t>• Inflexible catalogue &amp; inventory sync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828800"/>
            <a:ext cx="3383280" cy="4206240"/>
          </a:xfrm>
          <a:prstGeom prst="roundRect">
            <a:avLst/>
          </a:prstGeom>
          <a:solidFill>
            <a:srgbClr val="151D2F"/>
          </a:solidFill>
          <a:ln w="12700">
            <a:solidFill>
              <a:srgbClr val="26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2103120"/>
            <a:ext cx="2834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E575"/>
                </a:solidFill>
              </a:defRPr>
            </a:pPr>
            <a:r>
              <a:t>🚖 For Gig Drivers</a:t>
            </a:r>
          </a:p>
          <a:p>
            <a:pPr>
              <a:spcBef>
                <a:spcPts val="1400"/>
              </a:spcBef>
              <a:defRPr sz="1300">
                <a:solidFill>
                  <a:srgbClr val="94A3B8"/>
                </a:solidFill>
              </a:defRPr>
            </a:pPr>
            <a:r>
              <a:t>Drivers are locked into single-app silos, suffering from massive midday downtime.</a:t>
            </a:r>
            <a:br/>
            <a:br/>
            <a:r>
              <a:t>• Sit idle for 4 hours between rushes</a:t>
            </a:r>
            <a:br/>
            <a:r>
              <a:t>• Inability to earn across food &amp; parcels</a:t>
            </a:r>
            <a:br/>
            <a:r>
              <a:t>• High commission deductions (~25%)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E575"/>
                </a:solidFill>
              </a:defRPr>
            </a:pPr>
            <a:r>
              <a:t>THE BREAKTHROUGH</a:t>
            </a:r>
          </a:p>
          <a:p>
            <a:pPr>
              <a:spcBef>
                <a:spcPts val="400"/>
              </a:spcBef>
              <a:defRPr sz="2800" b="1">
                <a:solidFill>
                  <a:srgbClr val="FFFFFF"/>
                </a:solidFill>
              </a:defRPr>
            </a:pPr>
            <a:r>
              <a:t>Multi-Intent Voice AI + Autonomous Coordination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120640" cy="4206240"/>
          </a:xfrm>
          <a:prstGeom prst="roundRect">
            <a:avLst/>
          </a:prstGeom>
          <a:solidFill>
            <a:srgbClr val="151D2F"/>
          </a:solidFill>
          <a:ln w="12700">
            <a:solidFill>
              <a:srgbClr val="26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0312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E575"/>
                </a:solidFill>
              </a:defRPr>
            </a:pPr>
            <a:r>
              <a:t>STEP 1: ONE HINGLISH SENTENCE</a:t>
            </a:r>
          </a:p>
          <a:p>
            <a:pPr>
              <a:spcBef>
                <a:spcPts val="1200"/>
              </a:spcBef>
              <a:defRPr sz="1700" b="1" i="1">
                <a:solidFill>
                  <a:srgbClr val="FFFFFF"/>
                </a:solidFill>
              </a:defRPr>
            </a:pPr>
            <a:r>
              <a:t>“Cyber Hub se Airport cab book kar do aur 2 cold coffee order kar do”</a:t>
            </a:r>
          </a:p>
          <a:p>
            <a:pPr>
              <a:spcBef>
                <a:spcPts val="1600"/>
              </a:spcBef>
              <a:defRPr sz="1300">
                <a:solidFill>
                  <a:srgbClr val="94A3B8"/>
                </a:solidFill>
              </a:defRPr>
            </a:pPr>
            <a:r>
              <a:t>• Dual-Engine AI: Google Gemini 3.8 Flash extracts multi-intent slots in parallel.</a:t>
            </a:r>
            <a:br/>
            <a:r>
              <a:t>• Dialect-Aware STT/TTS: Sarvam AI synthesizes natural Indian Hinglish speech in under 140ms.</a:t>
            </a:r>
            <a:br/>
            <a:r>
              <a:t>• Unified Cart: Simultaneously calculates road routes and validates café stock.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5212080" cy="4206240"/>
          </a:xfrm>
          <a:prstGeom prst="roundRect">
            <a:avLst/>
          </a:prstGeom>
          <a:solidFill>
            <a:srgbClr val="151D2F"/>
          </a:solidFill>
          <a:ln w="12700">
            <a:solidFill>
              <a:srgbClr val="26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210312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STEP 2: INDEPENDENT PARALLEL EXECUTION</a:t>
            </a:r>
          </a:p>
          <a:p>
            <a:pPr>
              <a:spcBef>
                <a:spcPts val="1200"/>
              </a:spcBef>
              <a:defRPr sz="1300">
                <a:solidFill>
                  <a:srgbClr val="94A3B8"/>
                </a:solidFill>
              </a:defRPr>
            </a:pPr>
            <a:r>
              <a:t>🚖 Mobility Fleet (Passenger Trip)</a:t>
            </a:r>
            <a:br/>
            <a:r>
              <a:t>Driver Pradeep Bose gets instant WebSocket ride dispatch alert on his HUD.</a:t>
            </a:r>
            <a:br/>
            <a:br/>
            <a:r>
              <a:t>☕ Local Merchant (Café Kitchen)</a:t>
            </a:r>
            <a:br/>
            <a:r>
              <a:t>FreshMart / The Daily Grind receives an independent food prep ticket on their POS.</a:t>
            </a:r>
            <a:br/>
            <a:br/>
            <a:r>
              <a:t>⏱️ Real-time GPS Synchronization</a:t>
            </a:r>
            <a:br/>
            <a:r>
              <a:t>Cab ETA dynamically syncs with café prep time for seamless customer pickup.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E575"/>
                </a:solidFill>
              </a:defRPr>
            </a:pPr>
            <a:r>
              <a:t>ENGINEERING DEPTH</a:t>
            </a:r>
          </a:p>
          <a:p>
            <a:pPr>
              <a:spcBef>
                <a:spcPts val="400"/>
              </a:spcBef>
              <a:defRPr sz="2800" b="1">
                <a:solidFill>
                  <a:srgbClr val="FFFFFF"/>
                </a:solidFill>
              </a:defRPr>
            </a:pPr>
            <a:r>
              <a:t>3-Sided Closed-Loop Production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383280" cy="4206240"/>
          </a:xfrm>
          <a:prstGeom prst="roundRect">
            <a:avLst/>
          </a:prstGeom>
          <a:solidFill>
            <a:srgbClr val="151D2F"/>
          </a:solidFill>
          <a:ln w="12700">
            <a:solidFill>
              <a:srgbClr val="26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03120"/>
            <a:ext cx="2834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E575"/>
                </a:solidFill>
              </a:defRPr>
            </a:pPr>
            <a:r>
              <a:t>📱 Dropp Customer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iPhone 17 Pro • Port :8081</a:t>
            </a:r>
          </a:p>
          <a:p>
            <a:pPr>
              <a:spcBef>
                <a:spcPts val="1200"/>
              </a:spcBef>
              <a:defRPr sz="1200">
                <a:solidFill>
                  <a:srgbClr val="FFFFFF"/>
                </a:solidFill>
              </a:defRPr>
            </a:pPr>
            <a:r>
              <a:t>• Ambient green Aura Mic in tab bar</a:t>
            </a:r>
          </a:p>
          <a:p>
            <a:pPr>
              <a:spcBef>
                <a:spcPts val="1200"/>
              </a:spcBef>
              <a:defRPr sz="1200">
                <a:solidFill>
                  <a:srgbClr val="FFFFFF"/>
                </a:solidFill>
              </a:defRPr>
            </a:pPr>
            <a:r>
              <a:t>• Multi-service timeline combo cards</a:t>
            </a:r>
          </a:p>
          <a:p>
            <a:pPr>
              <a:spcBef>
                <a:spcPts val="1200"/>
              </a:spcBef>
              <a:defRPr sz="1200">
                <a:solidFill>
                  <a:srgbClr val="FFFFFF"/>
                </a:solidFill>
              </a:defRPr>
            </a:pPr>
            <a:r>
              <a:t>• Real-time driver location &amp; OTP 4821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828800"/>
            <a:ext cx="3383280" cy="4206240"/>
          </a:xfrm>
          <a:prstGeom prst="roundRect">
            <a:avLst/>
          </a:prstGeom>
          <a:solidFill>
            <a:srgbClr val="151D2F"/>
          </a:solidFill>
          <a:ln w="12700">
            <a:solidFill>
              <a:srgbClr val="26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2103120"/>
            <a:ext cx="2834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59E0B"/>
                </a:solidFill>
              </a:defRPr>
            </a:pPr>
            <a:r>
              <a:t>🏪 Dropp Seller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iPhone 17 Pro Max • Port :8084</a:t>
            </a:r>
          </a:p>
          <a:p>
            <a:pPr>
              <a:spcBef>
                <a:spcPts val="1200"/>
              </a:spcBef>
              <a:defRPr sz="1200">
                <a:solidFill>
                  <a:srgbClr val="FFFFFF"/>
                </a:solidFill>
              </a:defRPr>
            </a:pPr>
            <a:r>
              <a:t>• FreshMart live order dashboard</a:t>
            </a:r>
          </a:p>
          <a:p>
            <a:pPr>
              <a:spcBef>
                <a:spcPts val="1200"/>
              </a:spcBef>
              <a:defRPr sz="1200">
                <a:solidFill>
                  <a:srgbClr val="FFFFFF"/>
                </a:solidFill>
              </a:defRPr>
            </a:pPr>
            <a:r>
              <a:t>• Atomic stock steppers (+ / −)</a:t>
            </a:r>
          </a:p>
          <a:p>
            <a:pPr>
              <a:spcBef>
                <a:spcPts val="1200"/>
              </a:spcBef>
              <a:defRPr sz="1200">
                <a:solidFill>
                  <a:srgbClr val="FFFFFF"/>
                </a:solidFill>
              </a:defRPr>
            </a:pPr>
            <a:r>
              <a:t>• Revenue analytics &amp; inventory sync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828800"/>
            <a:ext cx="3383280" cy="4206240"/>
          </a:xfrm>
          <a:prstGeom prst="roundRect">
            <a:avLst/>
          </a:prstGeom>
          <a:solidFill>
            <a:srgbClr val="151D2F"/>
          </a:solidFill>
          <a:ln w="12700">
            <a:solidFill>
              <a:srgbClr val="26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2103120"/>
            <a:ext cx="2834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</a:defRPr>
            </a:pPr>
            <a:r>
              <a:t>🚖 Dropp Driver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iPhone 17 • Port :8082</a:t>
            </a:r>
          </a:p>
          <a:p>
            <a:pPr>
              <a:spcBef>
                <a:spcPts val="1200"/>
              </a:spcBef>
              <a:defRPr sz="1200">
                <a:solidFill>
                  <a:srgbClr val="FFFFFF"/>
                </a:solidFill>
              </a:defRPr>
            </a:pPr>
            <a:r>
              <a:t>• Pradeep Bose (4.9⭐, DL 01 AB 4001)</a:t>
            </a:r>
          </a:p>
          <a:p>
            <a:pPr>
              <a:spcBef>
                <a:spcPts val="1200"/>
              </a:spcBef>
              <a:defRPr sz="1200">
                <a:solidFill>
                  <a:srgbClr val="FFFFFF"/>
                </a:solidFill>
              </a:defRPr>
            </a:pPr>
            <a:r>
              <a:t>• Multi-service capability toggles</a:t>
            </a:r>
          </a:p>
          <a:p>
            <a:pPr>
              <a:spcBef>
                <a:spcPts val="1200"/>
              </a:spcBef>
              <a:defRPr sz="1200">
                <a:solidFill>
                  <a:srgbClr val="FFFFFF"/>
                </a:solidFill>
              </a:defRPr>
            </a:pPr>
            <a:r>
              <a:t>• Sub-second WebSocket offer modal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E575"/>
                </a:solidFill>
              </a:defRPr>
            </a:pPr>
            <a:r>
              <a:t>DEFENSIBLE OPPORTUNITY</a:t>
            </a:r>
          </a:p>
          <a:p>
            <a:pPr>
              <a:spcBef>
                <a:spcPts val="400"/>
              </a:spcBef>
              <a:defRPr sz="2800" b="1">
                <a:solidFill>
                  <a:srgbClr val="FFFFFF"/>
                </a:solidFill>
              </a:defRPr>
            </a:pPr>
            <a:r>
              <a:t>$38 Billion Everyday Commerce Market in India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383280" cy="4206240"/>
          </a:xfrm>
          <a:prstGeom prst="roundRect">
            <a:avLst/>
          </a:prstGeom>
          <a:solidFill>
            <a:srgbClr val="151D2F"/>
          </a:solidFill>
          <a:ln w="12700">
            <a:solidFill>
              <a:srgbClr val="26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03120"/>
            <a:ext cx="2834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TAM</a:t>
            </a:r>
          </a:p>
          <a:p>
            <a:pPr>
              <a:spcBef>
                <a:spcPts val="400"/>
              </a:spcBef>
              <a:defRPr sz="3600" b="1">
                <a:solidFill>
                  <a:srgbClr val="FFFFFF"/>
                </a:solidFill>
              </a:defRPr>
            </a:pPr>
            <a:r>
              <a:t>$38.0 B</a:t>
            </a:r>
          </a:p>
          <a:p>
            <a:pPr>
              <a:spcBef>
                <a:spcPts val="400"/>
              </a:spcBef>
              <a:defRPr sz="1300" b="1">
                <a:solidFill>
                  <a:srgbClr val="FFFFFF"/>
                </a:solidFill>
              </a:defRPr>
            </a:pPr>
            <a:r>
              <a:t>Total Addressable Market</a:t>
            </a:r>
          </a:p>
          <a:p>
            <a:pPr>
              <a:spcBef>
                <a:spcPts val="1400"/>
              </a:spcBef>
              <a:defRPr sz="1200">
                <a:solidFill>
                  <a:srgbClr val="94A3B8"/>
                </a:solidFill>
              </a:defRPr>
            </a:pPr>
            <a:r>
              <a:t>Urban Mobility ($7.3B) + Food Delivery ($12.5B) + Quick Commerce ($18.2B) projected in India by 2026.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828800"/>
            <a:ext cx="3383280" cy="4206240"/>
          </a:xfrm>
          <a:prstGeom prst="roundRect">
            <a:avLst/>
          </a:prstGeom>
          <a:solidFill>
            <a:srgbClr val="151D2F"/>
          </a:solidFill>
          <a:ln w="12700">
            <a:solidFill>
              <a:srgbClr val="26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2103120"/>
            <a:ext cx="2834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E575"/>
                </a:solidFill>
              </a:defRPr>
            </a:pPr>
            <a:r>
              <a:t>SAM</a:t>
            </a:r>
          </a:p>
          <a:p>
            <a:pPr>
              <a:spcBef>
                <a:spcPts val="400"/>
              </a:spcBef>
              <a:defRPr sz="3600" b="1">
                <a:solidFill>
                  <a:srgbClr val="00E575"/>
                </a:solidFill>
              </a:defRPr>
            </a:pPr>
            <a:r>
              <a:t>$16.2 B</a:t>
            </a:r>
          </a:p>
          <a:p>
            <a:pPr>
              <a:spcBef>
                <a:spcPts val="400"/>
              </a:spcBef>
              <a:defRPr sz="1300" b="1">
                <a:solidFill>
                  <a:srgbClr val="FFFFFF"/>
                </a:solidFill>
              </a:defRPr>
            </a:pPr>
            <a:r>
              <a:t>Serviceable Addressable</a:t>
            </a:r>
          </a:p>
          <a:p>
            <a:pPr>
              <a:spcBef>
                <a:spcPts val="1400"/>
              </a:spcBef>
              <a:defRPr sz="1200">
                <a:solidFill>
                  <a:srgbClr val="94A3B8"/>
                </a:solidFill>
              </a:defRPr>
            </a:pPr>
            <a:r>
              <a:t>Top 8 Tier-1 Metro Clusters (NCR, Bengaluru, Mumbai, etc.) covering 45M dual-earner urban households.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828800"/>
            <a:ext cx="3383280" cy="4206240"/>
          </a:xfrm>
          <a:prstGeom prst="roundRect">
            <a:avLst/>
          </a:prstGeom>
          <a:solidFill>
            <a:srgbClr val="151D2F"/>
          </a:solidFill>
          <a:ln w="12700">
            <a:solidFill>
              <a:srgbClr val="26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2103120"/>
            <a:ext cx="2834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A855F7"/>
                </a:solidFill>
              </a:defRPr>
            </a:pPr>
            <a:r>
              <a:t>SOM</a:t>
            </a:r>
          </a:p>
          <a:p>
            <a:pPr>
              <a:spcBef>
                <a:spcPts val="400"/>
              </a:spcBef>
              <a:defRPr sz="3600" b="1">
                <a:solidFill>
                  <a:srgbClr val="A855F7"/>
                </a:solidFill>
              </a:defRPr>
            </a:pPr>
            <a:r>
              <a:t>$92.0 M</a:t>
            </a:r>
          </a:p>
          <a:p>
            <a:pPr>
              <a:spcBef>
                <a:spcPts val="400"/>
              </a:spcBef>
              <a:defRPr sz="1300" b="1">
                <a:solidFill>
                  <a:srgbClr val="FFFFFF"/>
                </a:solidFill>
              </a:defRPr>
            </a:pPr>
            <a:r>
              <a:t>3-Year Target ARR</a:t>
            </a:r>
          </a:p>
          <a:p>
            <a:pPr>
              <a:spcBef>
                <a:spcPts val="1400"/>
              </a:spcBef>
              <a:defRPr sz="1200">
                <a:solidFill>
                  <a:srgbClr val="94A3B8"/>
                </a:solidFill>
              </a:defRPr>
            </a:pPr>
            <a:r>
              <a:t>Bottom-up calculation: 500K active daily users across 3 city nodes × 1.5 orders/day × ₹28 net take-rate = ₹766 Cr ARR.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E575"/>
                </a:solidFill>
              </a:defRPr>
            </a:pPr>
            <a:r>
              <a:t>UNIT ECONOMICS</a:t>
            </a:r>
          </a:p>
          <a:p>
            <a:pPr>
              <a:spcBef>
                <a:spcPts val="400"/>
              </a:spcBef>
              <a:defRPr sz="2800" b="1">
                <a:solidFill>
                  <a:srgbClr val="FFFFFF"/>
                </a:solidFill>
              </a:defRPr>
            </a:pPr>
            <a:r>
              <a:t>Superior Margins Through High-Frequency Bundling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120640" cy="4206240"/>
          </a:xfrm>
          <a:prstGeom prst="roundRect">
            <a:avLst/>
          </a:prstGeom>
          <a:solidFill>
            <a:srgbClr val="151D2F"/>
          </a:solidFill>
          <a:ln w="12700">
            <a:solidFill>
              <a:srgbClr val="26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0312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E575"/>
                </a:solidFill>
              </a:defRPr>
            </a:pPr>
            <a:r>
              <a:t>THREE HIGH-MARGIN REVENUE STREAMS</a:t>
            </a:r>
          </a:p>
          <a:p>
            <a:pPr>
              <a:spcBef>
                <a:spcPts val="1200"/>
              </a:spcBef>
              <a:defRPr sz="1300" b="1">
                <a:solidFill>
                  <a:srgbClr val="FFFFFF"/>
                </a:solidFill>
              </a:defRPr>
            </a:pPr>
            <a:r>
              <a:t>1. 5% Flat Merchant Commission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Versus 30% on Zomato/Swiggy. Guarantees instant local merchant buy-in and zero onboarding friction.</a:t>
            </a:r>
          </a:p>
          <a:p>
            <a:pPr>
              <a:spcBef>
                <a:spcPts val="1200"/>
              </a:spcBef>
              <a:defRPr sz="1300" b="1">
                <a:solidFill>
                  <a:srgbClr val="FFFFFF"/>
                </a:solidFill>
              </a:defRPr>
            </a:pPr>
            <a:r>
              <a:t>2. ₹15 Coordination Convenience Fee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Paid per multi-service bundle by customers to save 15 minutes of manual juggling across apps.</a:t>
            </a:r>
          </a:p>
          <a:p>
            <a:pPr>
              <a:spcBef>
                <a:spcPts val="1200"/>
              </a:spcBef>
              <a:defRPr sz="1300" b="1">
                <a:solidFill>
                  <a:srgbClr val="FFFFFF"/>
                </a:solidFill>
              </a:defRPr>
            </a:pPr>
            <a:r>
              <a:t>3. Flat ₹30/Day Driver Subscription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Drivers keep 100% of metered fares, increasing driver take-home pay by ~22%.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5212080" cy="4206240"/>
          </a:xfrm>
          <a:prstGeom prst="roundRect">
            <a:avLst/>
          </a:prstGeom>
          <a:solidFill>
            <a:srgbClr val="151D2F"/>
          </a:solidFill>
          <a:ln w="12700">
            <a:solidFill>
              <a:srgbClr val="26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210312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COMBO ORDER UNIT ECONOMICS (CAB + COFFEE)</a:t>
            </a:r>
          </a:p>
          <a:p>
            <a:pPr>
              <a:spcBef>
                <a:spcPts val="1400"/>
              </a:spcBef>
              <a:defRPr sz="1300">
                <a:solidFill>
                  <a:srgbClr val="FFFFFF"/>
                </a:solidFill>
              </a:defRPr>
            </a:pPr>
            <a:r>
              <a:t>• Customer Pays (GMV): ₹500 (₹320 Cab + ₹180 Food)</a:t>
            </a:r>
            <a:br/>
            <a:r>
              <a:t>• Driver Payout: ₹288</a:t>
            </a:r>
            <a:br/>
            <a:r>
              <a:t>• Merchant Payout: ₹171</a:t>
            </a:r>
            <a:br/>
            <a:br/>
            <a:r>
              <a:t>════════════════════════════════════</a:t>
            </a:r>
            <a:br/>
            <a:r>
              <a:t>• Dropp Net Revenue: +₹56 per order (~11.2% Net Margin)</a:t>
            </a:r>
            <a:br/>
            <a:br/>
            <a:r>
              <a:t>• Zero Aggregator CAC: High-frequency daily convenience doubles Customer Lifetime Value (LTV) and cuts churn to zero.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E575"/>
                </a:solidFill>
              </a:defRPr>
            </a:pPr>
            <a:r>
              <a:t>EXECUTION TIMELINE</a:t>
            </a:r>
          </a:p>
          <a:p>
            <a:pPr>
              <a:spcBef>
                <a:spcPts val="400"/>
              </a:spcBef>
              <a:defRPr sz="2800" b="1">
                <a:solidFill>
                  <a:srgbClr val="FFFFFF"/>
                </a:solidFill>
              </a:defRPr>
            </a:pPr>
            <a:r>
              <a:t>From Hackathon MVP to Regional Scale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2560320" cy="4206240"/>
          </a:xfrm>
          <a:prstGeom prst="roundRect">
            <a:avLst/>
          </a:prstGeom>
          <a:solidFill>
            <a:srgbClr val="151D2F"/>
          </a:solidFill>
          <a:ln w="12700">
            <a:solidFill>
              <a:srgbClr val="26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103120"/>
            <a:ext cx="2103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E575"/>
                </a:solidFill>
              </a:defRPr>
            </a:pPr>
            <a:r>
              <a:t>M 1–3</a:t>
            </a:r>
          </a:p>
          <a:p>
            <a:pPr>
              <a:spcBef>
                <a:spcPts val="400"/>
              </a:spcBef>
              <a:defRPr sz="1600" b="1">
                <a:solidFill>
                  <a:srgbClr val="FFFFFF"/>
                </a:solidFill>
              </a:defRPr>
            </a:pPr>
            <a:r>
              <a:t>Gurugram Pilot</a:t>
            </a:r>
          </a:p>
          <a:p>
            <a:pPr>
              <a:spcBef>
                <a:spcPts val="1200"/>
              </a:spcBef>
              <a:defRPr sz="1100">
                <a:solidFill>
                  <a:srgbClr val="94A3B8"/>
                </a:solidFill>
              </a:defRPr>
            </a:pPr>
            <a:r>
              <a:t>Launch Sector 28 &amp; Cyber Hub. Onboard 500 food/grocery merchants &amp; 300 active fleet drivers.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828800"/>
            <a:ext cx="2560320" cy="4206240"/>
          </a:xfrm>
          <a:prstGeom prst="roundRect">
            <a:avLst/>
          </a:prstGeom>
          <a:solidFill>
            <a:srgbClr val="151D2F"/>
          </a:solidFill>
          <a:ln w="12700">
            <a:solidFill>
              <a:srgbClr val="26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03320" y="2103120"/>
            <a:ext cx="2103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M 4–8</a:t>
            </a:r>
          </a:p>
          <a:p>
            <a:pPr>
              <a:spcBef>
                <a:spcPts val="400"/>
              </a:spcBef>
              <a:defRPr sz="1600" b="1">
                <a:solidFill>
                  <a:srgbClr val="FFFFFF"/>
                </a:solidFill>
              </a:defRPr>
            </a:pPr>
            <a:r>
              <a:t>ONDC Ingestion</a:t>
            </a:r>
          </a:p>
          <a:p>
            <a:pPr>
              <a:spcBef>
                <a:spcPts val="1200"/>
              </a:spcBef>
              <a:defRPr sz="1100">
                <a:solidFill>
                  <a:srgbClr val="94A3B8"/>
                </a:solidFill>
              </a:defRPr>
            </a:pPr>
            <a:r>
              <a:t>Integrate India ONDC open network protocols. Reach 10,000 MAUs &amp; 2,500 daily combo orders.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828800"/>
            <a:ext cx="2560320" cy="4206240"/>
          </a:xfrm>
          <a:prstGeom prst="roundRect">
            <a:avLst/>
          </a:prstGeom>
          <a:solidFill>
            <a:srgbClr val="151D2F"/>
          </a:solidFill>
          <a:ln w="12700">
            <a:solidFill>
              <a:srgbClr val="26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2103120"/>
            <a:ext cx="2103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59E0B"/>
                </a:solidFill>
              </a:defRPr>
            </a:pPr>
            <a:r>
              <a:t>M 9–14</a:t>
            </a:r>
          </a:p>
          <a:p>
            <a:pPr>
              <a:spcBef>
                <a:spcPts val="400"/>
              </a:spcBef>
              <a:defRPr sz="1600" b="1">
                <a:solidFill>
                  <a:srgbClr val="FFFFFF"/>
                </a:solidFill>
              </a:defRPr>
            </a:pPr>
            <a:r>
              <a:t>Bengaluru Expansion</a:t>
            </a:r>
          </a:p>
          <a:p>
            <a:pPr>
              <a:spcBef>
                <a:spcPts val="1200"/>
              </a:spcBef>
              <a:defRPr sz="1100">
                <a:solidFill>
                  <a:srgbClr val="94A3B8"/>
                </a:solidFill>
              </a:defRPr>
            </a:pPr>
            <a:r>
              <a:t>Expand to Indiranagar &amp; Koramangala. Scale to $150K monthly GMV with positive unit margins.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1828800"/>
            <a:ext cx="2560320" cy="4206240"/>
          </a:xfrm>
          <a:prstGeom prst="roundRect">
            <a:avLst/>
          </a:prstGeom>
          <a:solidFill>
            <a:srgbClr val="151D2F"/>
          </a:solidFill>
          <a:ln w="12700">
            <a:solidFill>
              <a:srgbClr val="26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89720" y="2103120"/>
            <a:ext cx="2103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A855F7"/>
                </a:solidFill>
              </a:defRPr>
            </a:pPr>
            <a:r>
              <a:t>M 15–18</a:t>
            </a:r>
          </a:p>
          <a:p>
            <a:pPr>
              <a:spcBef>
                <a:spcPts val="400"/>
              </a:spcBef>
              <a:defRPr sz="1600" b="1">
                <a:solidFill>
                  <a:srgbClr val="FFFFFF"/>
                </a:solidFill>
              </a:defRPr>
            </a:pPr>
            <a:r>
              <a:t>Series A Ready</a:t>
            </a:r>
          </a:p>
          <a:p>
            <a:pPr>
              <a:spcBef>
                <a:spcPts val="1200"/>
              </a:spcBef>
              <a:defRPr sz="1100">
                <a:solidFill>
                  <a:srgbClr val="94A3B8"/>
                </a:solidFill>
              </a:defRPr>
            </a:pPr>
            <a:r>
              <a:t>50,000 MAUs across 4 Tier-1 metro clusters. Prepare for $3.5M Series A institutional round.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E575"/>
                </a:solidFill>
              </a:defRPr>
            </a:pPr>
            <a:r>
              <a:t>PARTNERSHIP OPPORTUNITY</a:t>
            </a:r>
          </a:p>
          <a:p>
            <a:pPr>
              <a:spcBef>
                <a:spcPts val="400"/>
              </a:spcBef>
              <a:defRPr sz="2800" b="1">
                <a:solidFill>
                  <a:srgbClr val="FFFFFF"/>
                </a:solidFill>
              </a:defRPr>
            </a:pPr>
            <a:r>
              <a:t>Pre-Seed Ask: $750,000 for 18 Months of Runway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120640" cy="4206240"/>
          </a:xfrm>
          <a:prstGeom prst="roundRect">
            <a:avLst/>
          </a:prstGeom>
          <a:solidFill>
            <a:srgbClr val="151D2F"/>
          </a:solidFill>
          <a:ln w="12700">
            <a:solidFill>
              <a:srgbClr val="26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0312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E575"/>
                </a:solidFill>
              </a:defRPr>
            </a:pPr>
            <a:r>
              <a:t>THE FOUNDER &amp; ARCHITECT</a:t>
            </a:r>
          </a:p>
          <a:p>
            <a:pPr>
              <a:spcBef>
                <a:spcPts val="400"/>
              </a:spcBef>
              <a:defRPr sz="2400" b="1">
                <a:solidFill>
                  <a:srgbClr val="FFFFFF"/>
                </a:solidFill>
              </a:defRPr>
            </a:pPr>
            <a:r>
              <a:t>Lucky Raj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Founder &amp; Lead Systems Architect</a:t>
            </a:r>
            <a:br/>
            <a:br/>
            <a:r>
              <a:t>• Full-stack systems engineer &amp; product builder.</a:t>
            </a:r>
            <a:br/>
            <a:r>
              <a:t>• Personally engineered, integrated, and deployed all 3 mobile apps, WebSocket server, and Aura Indic voice pipeline.</a:t>
            </a:r>
            <a:br/>
            <a:r>
              <a:t>• Proven 10x velocity with zero external engineering dependencies.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5212080" cy="4206240"/>
          </a:xfrm>
          <a:prstGeom prst="roundRect">
            <a:avLst/>
          </a:prstGeom>
          <a:solidFill>
            <a:srgbClr val="151D2F"/>
          </a:solidFill>
          <a:ln w="12700">
            <a:solidFill>
              <a:srgbClr val="26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210312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USE OF $750K PRE-SEED CAPITAL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• 50% ($375,000) — Engineering &amp; AI Core</a:t>
            </a:r>
            <a:br/>
            <a:r>
              <a:t>Fine-tuning low-latency Indic voice models, ONDC protocol adapters, and automated route clustering.</a:t>
            </a:r>
            <a:br/>
            <a:br/>
            <a:r>
              <a:t>• 30% ($225,000) — Merchant &amp; Fleet Node Acquisition</a:t>
            </a:r>
            <a:br/>
            <a:r>
              <a:t>Onboarding initial 1,500 local food/grocery merchant nodes and 800 driver partners in NCR &amp; Bengaluru.</a:t>
            </a:r>
            <a:br/>
            <a:br/>
            <a:r>
              <a:t>• 20% ($150,000) — Regulatory, Fleet Licensing &amp; Working Capital</a:t>
            </a:r>
            <a:br/>
            <a:br/>
            <a:r>
              <a:t>Contact: luckyr942@gmail.com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